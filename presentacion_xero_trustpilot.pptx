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Sentimiento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Positivo</c:v>
                </c:pt>
                <c:pt idx="1">
                  <c:v>Neutro</c:v>
                </c:pt>
                <c:pt idx="2">
                  <c:v>Negativo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</c:v>
                </c:pt>
                <c:pt idx="1">
                  <c:v>21</c:v>
                </c:pt>
                <c:pt idx="2">
                  <c:v>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Xero</c:v>
                  </c:pt>
                  <c:pt idx="1">
                    <c:v>Crunch</c:v>
                  </c:pt>
                  <c:pt idx="2">
                    <c:v>Takepayments</c:v>
                  </c:pt>
                  <c:pt idx="3">
                    <c:v>Skrill</c:v>
                  </c:pt>
                  <c:pt idx="4">
                    <c:v>Clearpay</c:v>
                  </c:pt>
                  <c:pt idx="5">
                    <c:v>EposNow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58</c:v>
                </c:pt>
                <c:pt idx="2">
                  <c:v>45</c:v>
                </c:pt>
                <c:pt idx="3">
                  <c:v>31</c:v>
                </c:pt>
                <c:pt idx="4">
                  <c:v>42</c:v>
                </c:pt>
                <c:pt idx="5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Xero</c:v>
                  </c:pt>
                  <c:pt idx="1">
                    <c:v>Crunch</c:v>
                  </c:pt>
                  <c:pt idx="2">
                    <c:v>Takepayments</c:v>
                  </c:pt>
                  <c:pt idx="3">
                    <c:v>Skrill</c:v>
                  </c:pt>
                  <c:pt idx="4">
                    <c:v>Clearpay</c:v>
                  </c:pt>
                  <c:pt idx="5">
                    <c:v>EposNow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  <c:pt idx="4">
                  <c:v>25</c:v>
                </c:pt>
                <c:pt idx="5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Xero</c:v>
                  </c:pt>
                  <c:pt idx="1">
                    <c:v>Crunch</c:v>
                  </c:pt>
                  <c:pt idx="2">
                    <c:v>Takepayments</c:v>
                  </c:pt>
                  <c:pt idx="3">
                    <c:v>Skrill</c:v>
                  </c:pt>
                  <c:pt idx="4">
                    <c:v>Clearpay</c:v>
                  </c:pt>
                  <c:pt idx="5">
                    <c:v>EposNow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</c:v>
                </c:pt>
                <c:pt idx="1">
                  <c:v>24</c:v>
                </c:pt>
                <c:pt idx="2">
                  <c:v>35</c:v>
                </c:pt>
                <c:pt idx="3">
                  <c:v>47</c:v>
                </c:pt>
                <c:pt idx="4">
                  <c:v>33</c:v>
                </c:pt>
                <c:pt idx="5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NSS Xero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15</c:v>
                </c:pt>
                <c:pt idx="2">
                  <c:v>38</c:v>
                </c:pt>
                <c:pt idx="3">
                  <c:v>-12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-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Xero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15</c:v>
                </c:pt>
                <c:pt idx="2">
                  <c:v>38</c:v>
                </c:pt>
                <c:pt idx="3">
                  <c:v>-12</c:v>
                </c:pt>
                <c:pt idx="4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Crunch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41</c:v>
                </c:pt>
                <c:pt idx="3">
                  <c:v>-5</c:v>
                </c:pt>
                <c:pt idx="4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Takepayments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10</c:v>
                </c:pt>
                <c:pt idx="2">
                  <c:v>30</c:v>
                </c:pt>
                <c:pt idx="3">
                  <c:v>-20</c:v>
                </c:pt>
                <c:pt idx="4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Skrill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-18</c:v>
                </c:pt>
                <c:pt idx="1">
                  <c:v>5</c:v>
                </c:pt>
                <c:pt idx="2">
                  <c:v>22</c:v>
                </c:pt>
                <c:pt idx="3">
                  <c:v>-30</c:v>
                </c:pt>
                <c:pt idx="4">
                  <c:v>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Clearpay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28</c:v>
                </c:pt>
                <c:pt idx="3">
                  <c:v>-15</c:v>
                </c:pt>
                <c:pt idx="4">
                  <c:v>18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EposNow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Pagos y cobros</c:v>
                  </c:pt>
                  <c:pt idx="1">
                    <c:v>Soporte técnico</c:v>
                  </c:pt>
                  <c:pt idx="2">
                    <c:v>Atención al cliente</c:v>
                  </c:pt>
                  <c:pt idx="3">
                    <c:v>Cumplimiento PCI</c:v>
                  </c:pt>
                  <c:pt idx="4">
                    <c:v>Velocidad de respuesta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35</c:v>
                </c:pt>
                <c:pt idx="3">
                  <c:v>-8</c:v>
                </c:pt>
                <c:pt idx="4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-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297680"/>
            <a:ext cx="8979408" cy="8458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RESEÑAS TRUSTPILOT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Xero — Business Services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 Deep Learning · Módulo Final de Machine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828800" cy="82296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Xero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971800"/>
            <a:ext cx="1828800" cy="82296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1828800" cy="82296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2971800"/>
            <a:ext cx="1828800" cy="82296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017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RoBERTa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NLP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www.xero.com  ·  Evolve ML Programme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y Metodología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123.181 reseñas · 22 sectores · 1.680 empresas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objetivo: www.xero.com (100 reseñas)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competidores del mismo sector (600 total)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Estrellas descartadas — dataset artificialmente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balanceado (20 reseñas/★ por empresa)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109728" cy="192024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Limpieza con librería regex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Sentimiento → CardiffNLP RoBERTa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1883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Embeddings → all-MiniLM-L6-v2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Reducción → UMAP (384→5 dims)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Clustering → HDBSCAN · Topics → BERTopic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8366760" cy="1508760"/>
          </a:xfrm>
          <a:prstGeom prst="rect">
            <a:avLst/>
          </a:prstGeom>
          <a:solidFill>
            <a:srgbClr val="EAF4FB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127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NEGOCIO (Director CX)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¿Las reseñas son mayoritariamente positivas o negativas? ¿Y en la competencia?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¿Qué temas tratan las reseñas? ¿Y en la competencia?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Por tema: ¿el sentimiento es positivo o negativo? ¿Dónde somos mejores o peores?   ④ ¿Cuáles son las áreas de mejora prioritarias?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Sentimiento Global — Xero (www.xero.com)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clientes satisfechos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56032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mixta o sin opinión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56032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insatisfactoria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46888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2468880"/>
            <a:ext cx="4069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SENTIMENT SCORE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= % Positivo − % Negativo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9204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+ 25</a:t>
            </a:r>
            <a:endParaRPr lang="en-US" sz="5600" dirty="0"/>
          </a:p>
        </p:txBody>
      </p:sp>
      <p:sp>
        <p:nvSpPr>
          <p:cNvPr id="24" name="Text 21"/>
          <p:cNvSpPr/>
          <p:nvPr/>
        </p:nvSpPr>
        <p:spPr>
          <a:xfrm>
            <a:off x="48920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Xero: sentimiento neto positivo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920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competencia: +22  ·  Xero +3 pp sobre el sector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 de Sentimiento — Xero vs Competidores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68680"/>
            <a:ext cx="2514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868680"/>
            <a:ext cx="109728" cy="4023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46520" y="13716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3408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lidera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(+3pp sobre media)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46520" y="219456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93408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Skrill: mayor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insatisfacción (47%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301752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340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Crunch: mejor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positivo (58%)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46520" y="384048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muestran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mejora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negativos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 Identificados — BERTopic (Sentence Transformers + UMAP + HDBSCAN)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Pagos y cobros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· payment · card · issue · pay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260604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188720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1207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Soporte técnico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55848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phone · problem · sorted · trying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18872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65976" y="1207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Atención al cliente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0877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· friendly · clear · brilliant · lovely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34640"/>
            <a:ext cx="2606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1752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035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Cumplimiento PCI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compliance · card machine · worst card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2834640"/>
            <a:ext cx="26060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834640"/>
            <a:ext cx="260604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017520"/>
            <a:ext cx="384048" cy="384048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13048" y="3035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 de respuesta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55848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· quick · query · timely · efficient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solidFill>
            <a:srgbClr val="EAF4FB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27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600 reseñas (Xero + 5 competidores). CountVectorizer con stop words de dominio para eliminar términos genéricos (service, account…) y nombres de empresa.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Sentimiento por Topic — Net Sentiment Score (Xero)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96112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914400"/>
            <a:ext cx="91440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969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48272" y="969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48272" y="1234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clave de Xero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682496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682496"/>
            <a:ext cx="91440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48272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respuesta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48272" y="2002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competitivo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450592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2450592"/>
            <a:ext cx="9144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505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48272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48272" y="2770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 margen de mejora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0" y="3218688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3218688"/>
            <a:ext cx="9144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273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4827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y cobros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748272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Mejorable — voz del cliente activa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943600" y="3986784"/>
            <a:ext cx="2788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3986784"/>
            <a:ext cx="9144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4041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48272" y="4041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PCI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748272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Área de mejora prioritaria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4892040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= % Positivo − % Negativo por topic  ·  verde: NSS &gt; 0  ·  rojo: NSS &lt; 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Benchmarking Competitivo — NSS por Topic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96112"/>
          <a:ext cx="8366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(verde oscuro) en Atención al cliente y Velocidad de respuesta mantiene NSS competitivo. El topic Cumplimiento PCI es el punto débil común al sector.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Áreas de Mejora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FORTALEZAS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" y="1572768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783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+38 — el punto de mayor satisfacción. Clientes destacan helpfulness y claridad del equipo.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" y="2670048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060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respuesta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" y="2880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+22 — respuestas rápidas y eficientes mencionadas reiteradamente como diferenciador.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3767328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sectorial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+3pp sobre la media del sector en sentimiento positivo (52% vs 49% media).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02336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40233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ÁREAS DE MEJORA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74336" y="1572768"/>
            <a:ext cx="146304" cy="14630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Cumplimiento PCI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57800" y="1783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−12 — el único topic en negativo. Clientes reportan dificultades con la configuración y el proceso de certificación PCI. Crunch supera a Xero en +7pp en este topic.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74336" y="267004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6060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Pagos y cobros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28803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+8 — margen de mejora. Issues recurrentes con cobros fallidos y gestión de reembolsos. Brecha de 10pp respecto al mejor competidor.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74336" y="376732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Soporte técnico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57800" y="3977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+15 — positivo, pero por debajo de Crunch (+20). Incidencias con terminales y tiempos de resolución penalizan la percepción.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297680"/>
            <a:ext cx="8979408" cy="8458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A0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Acción recomendada al CX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56032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24505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proceso PCI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el flujo de certificación; crear guía paso a paso para reducir el NSS negativo en Cumplimiento PCI.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56032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1568" y="24505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incidencias de pago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283464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notificaciones proactivas ante cobros fallidos y reducir el tiempo de resolución de reembolsos.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560320" cy="1920240"/>
          </a:xfrm>
          <a:prstGeom prst="rect">
            <a:avLst/>
          </a:prstGeom>
          <a:solidFill>
            <a:srgbClr val="1122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36208" y="24505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Capitalizar atención al cliente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283464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 fortaleza en diferenciador de marketing: testimonios, casos de éxito y SLA público de respuesta.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61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Pipeline: CardiffNLP RoBERTa · BERTopic · Sentence Transformers · UMAP · HDBSCAN  ·  Evolve ML Programme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NLP Trustpilot — Xero</dc:title>
  <dc:subject>PptxGenJS Presentation</dc:subject>
  <dc:creator>Ivan</dc:creator>
  <cp:lastModifiedBy>Ivan</cp:lastModifiedBy>
  <cp:revision>1</cp:revision>
  <dcterms:created xsi:type="dcterms:W3CDTF">2026-06-15T14:34:57Z</dcterms:created>
  <dcterms:modified xsi:type="dcterms:W3CDTF">2026-06-15T14:34:57Z</dcterms:modified>
</cp:coreProperties>
</file>